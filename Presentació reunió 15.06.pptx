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77" r:id="rId10"/>
    <p:sldId id="262" r:id="rId11"/>
    <p:sldId id="263" r:id="rId12"/>
    <p:sldId id="265" r:id="rId13"/>
    <p:sldId id="278" r:id="rId14"/>
    <p:sldId id="264" r:id="rId15"/>
    <p:sldId id="267" r:id="rId16"/>
    <p:sldId id="266" r:id="rId17"/>
    <p:sldId id="279" r:id="rId18"/>
    <p:sldId id="268" r:id="rId19"/>
    <p:sldId id="269" r:id="rId20"/>
    <p:sldId id="270" r:id="rId21"/>
    <p:sldId id="271" r:id="rId22"/>
    <p:sldId id="272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8E3A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214" autoAdjust="0"/>
  </p:normalViewPr>
  <p:slideViewPr>
    <p:cSldViewPr snapToGrid="0" snapToObjects="1">
      <p:cViewPr varScale="1">
        <p:scale>
          <a:sx n="120" d="100"/>
          <a:sy n="120" d="100"/>
        </p:scale>
        <p:origin x="12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90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D85BD-8B77-B23B-4339-E81665EF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00A53-E539-4B31-063B-6D1060D0E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0B7E6-2FD4-8B5F-E84B-DACABD7D2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7DB7E-3788-9DE2-4DAC-4698B0280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90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01340-9BB5-3036-0E5E-A1964BDA1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8F611-FE32-D3B8-7778-A4D089C33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FD236-C027-94E6-CDC2-8061A6B95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55B70-6BBE-07AC-6C09-3BCE581546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2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605B4-3E01-61D4-4ED9-213FBC4E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E4FFC-B2C3-6E5A-2A93-C32ADF5A3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A3220-A5F9-2C60-6129-1640ACA79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C704E-6B64-73DA-E33E-C65103C964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86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Odds ratio: </a:t>
            </a:r>
            <a:r>
              <a:rPr lang="en-US" dirty="0" err="1"/>
              <a:t>quocient</a:t>
            </a:r>
            <a:r>
              <a:rPr lang="en-US" dirty="0"/>
              <a:t> entre </a:t>
            </a:r>
            <a:r>
              <a:rPr lang="en-US" dirty="0" err="1"/>
              <a:t>probabilitat</a:t>
            </a:r>
            <a:r>
              <a:rPr lang="en-US" dirty="0"/>
              <a:t> de regular </a:t>
            </a:r>
            <a:r>
              <a:rPr lang="en-US" dirty="0" err="1"/>
              <a:t>respecte</a:t>
            </a:r>
            <a:r>
              <a:rPr lang="en-US" dirty="0"/>
              <a:t> irregular. Si </a:t>
            </a:r>
            <a:r>
              <a:rPr lang="en-US" dirty="0" err="1"/>
              <a:t>és</a:t>
            </a:r>
            <a:r>
              <a:rPr lang="en-US" dirty="0"/>
              <a:t> &lt; 1 -&gt; </a:t>
            </a:r>
            <a:r>
              <a:rPr lang="en-US" dirty="0" err="1"/>
              <a:t>més</a:t>
            </a:r>
            <a:r>
              <a:rPr lang="en-US" dirty="0"/>
              <a:t> </a:t>
            </a:r>
            <a:r>
              <a:rPr lang="en-US" dirty="0" err="1"/>
              <a:t>poder</a:t>
            </a:r>
            <a:r>
              <a:rPr lang="en-US" dirty="0"/>
              <a:t> irregular</a:t>
            </a:r>
          </a:p>
          <a:p>
            <a:r>
              <a:rPr lang="en-US" dirty="0"/>
              <a:t>AME: quants pp </a:t>
            </a:r>
            <a:r>
              <a:rPr lang="en-US" dirty="0" err="1"/>
              <a:t>canvia</a:t>
            </a:r>
            <a:r>
              <a:rPr lang="en-US" dirty="0"/>
              <a:t> la </a:t>
            </a:r>
            <a:r>
              <a:rPr lang="en-US" dirty="0" err="1"/>
              <a:t>probabilitat</a:t>
            </a:r>
            <a:r>
              <a:rPr lang="en-US" dirty="0"/>
              <a:t> de ser regular </a:t>
            </a:r>
            <a:r>
              <a:rPr lang="en-US" dirty="0" err="1"/>
              <a:t>quan</a:t>
            </a:r>
            <a:r>
              <a:rPr lang="en-US" dirty="0"/>
              <a:t> la variable </a:t>
            </a:r>
            <a:r>
              <a:rPr lang="en-US" dirty="0" err="1"/>
              <a:t>augmenta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unitat</a:t>
            </a:r>
            <a:r>
              <a:rPr lang="en-US" dirty="0"/>
              <a:t> </a:t>
            </a:r>
            <a:r>
              <a:rPr lang="en-US" dirty="0" err="1"/>
              <a:t>fet</a:t>
            </a:r>
            <a:r>
              <a:rPr lang="en-US" dirty="0"/>
              <a:t> per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. </a:t>
            </a:r>
            <a:r>
              <a:rPr lang="en-US" dirty="0" err="1"/>
              <a:t>Llavors</a:t>
            </a:r>
            <a:r>
              <a:rPr lang="en-US" dirty="0"/>
              <a:t> </a:t>
            </a:r>
            <a:r>
              <a:rPr lang="en-US" dirty="0" err="1"/>
              <a:t>després</a:t>
            </a:r>
            <a:r>
              <a:rPr lang="en-US" dirty="0"/>
              <a:t> es fa la </a:t>
            </a:r>
            <a:r>
              <a:rPr lang="en-US" dirty="0" err="1"/>
              <a:t>mitjana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6A8C-D74F-355A-0A7A-E8E249B5C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C4067-4E79-8B1B-5451-2171D3DBC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23D7F-D5BF-27D4-0B6E-644220E9D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Odds ratio: </a:t>
            </a:r>
            <a:r>
              <a:rPr lang="en-US" dirty="0" err="1"/>
              <a:t>quocient</a:t>
            </a:r>
            <a:r>
              <a:rPr lang="en-US" dirty="0"/>
              <a:t> entre </a:t>
            </a:r>
            <a:r>
              <a:rPr lang="en-US" dirty="0" err="1"/>
              <a:t>probabilitat</a:t>
            </a:r>
            <a:r>
              <a:rPr lang="en-US" dirty="0"/>
              <a:t> de regular </a:t>
            </a:r>
            <a:r>
              <a:rPr lang="en-US" dirty="0" err="1"/>
              <a:t>respecte</a:t>
            </a:r>
            <a:r>
              <a:rPr lang="en-US" dirty="0"/>
              <a:t> irregular. Si </a:t>
            </a:r>
            <a:r>
              <a:rPr lang="en-US" dirty="0" err="1"/>
              <a:t>és</a:t>
            </a:r>
            <a:r>
              <a:rPr lang="en-US" dirty="0"/>
              <a:t> &lt; 1 -&gt; </a:t>
            </a:r>
            <a:r>
              <a:rPr lang="en-US" dirty="0" err="1"/>
              <a:t>més</a:t>
            </a:r>
            <a:r>
              <a:rPr lang="en-US" dirty="0"/>
              <a:t> </a:t>
            </a:r>
            <a:r>
              <a:rPr lang="en-US" dirty="0" err="1"/>
              <a:t>poder</a:t>
            </a:r>
            <a:r>
              <a:rPr lang="en-US" dirty="0"/>
              <a:t> irregular</a:t>
            </a:r>
          </a:p>
          <a:p>
            <a:r>
              <a:rPr lang="en-US" dirty="0"/>
              <a:t>AME: quants pp </a:t>
            </a:r>
            <a:r>
              <a:rPr lang="en-US" dirty="0" err="1"/>
              <a:t>canvia</a:t>
            </a:r>
            <a:r>
              <a:rPr lang="en-US" dirty="0"/>
              <a:t> la </a:t>
            </a:r>
            <a:r>
              <a:rPr lang="en-US" dirty="0" err="1"/>
              <a:t>probabilitat</a:t>
            </a:r>
            <a:r>
              <a:rPr lang="en-US" dirty="0"/>
              <a:t> de ser regular </a:t>
            </a:r>
            <a:r>
              <a:rPr lang="en-US" dirty="0" err="1"/>
              <a:t>quan</a:t>
            </a:r>
            <a:r>
              <a:rPr lang="en-US" dirty="0"/>
              <a:t> la variable </a:t>
            </a:r>
            <a:r>
              <a:rPr lang="en-US" dirty="0" err="1"/>
              <a:t>augmenta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unitat</a:t>
            </a:r>
            <a:r>
              <a:rPr lang="en-US" dirty="0"/>
              <a:t> </a:t>
            </a:r>
            <a:r>
              <a:rPr lang="en-US" dirty="0" err="1"/>
              <a:t>fet</a:t>
            </a:r>
            <a:r>
              <a:rPr lang="en-US" dirty="0"/>
              <a:t> per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. </a:t>
            </a:r>
            <a:r>
              <a:rPr lang="en-US" dirty="0" err="1"/>
              <a:t>Llavors</a:t>
            </a:r>
            <a:r>
              <a:rPr lang="en-US" dirty="0"/>
              <a:t> </a:t>
            </a:r>
            <a:r>
              <a:rPr lang="en-US" dirty="0" err="1"/>
              <a:t>després</a:t>
            </a:r>
            <a:r>
              <a:rPr lang="en-US" dirty="0"/>
              <a:t> es fa la </a:t>
            </a:r>
            <a:r>
              <a:rPr lang="en-US" dirty="0" err="1"/>
              <a:t>mitjana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659DC-58A0-C68C-7AF6-B306A3FE54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55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8BB65-0A0D-1D0E-09B0-C864A7C4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AF245-BCCC-C8C5-CD25-4772ACC3F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4F87F-14A2-6B0B-D241-6C13C6F16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49F96-F8CF-3306-1B24-C7BD73DF1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56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7315200" cy="2926080"/>
          </a:xfrm>
          <a:prstGeom prst="roundRect">
            <a:avLst>
              <a:gd name="adj" fmla="val 4688"/>
            </a:avLst>
          </a:prstGeom>
          <a:solidFill>
            <a:srgbClr val="2B4C8C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Absentisme a les aules universitàries</a:t>
            </a:r>
            <a:endParaRPr lang="ca-E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1800" i="1" noProof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Causes, perfils i predicció</a:t>
            </a:r>
            <a:endParaRPr lang="ca-ES" sz="18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6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TFG</a:t>
            </a:r>
            <a:endParaRPr lang="ca-ES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ca-ES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300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Preprocessament</a:t>
            </a:r>
            <a:r>
              <a:rPr lang="ca-ES" sz="13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EDA</a:t>
            </a:r>
            <a:endParaRPr lang="ca-ES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ca-ES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1051560" y="19019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3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Anàlisi Factorial (EFA)</a:t>
            </a:r>
            <a:endParaRPr lang="ca-ES" sz="13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270662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" y="275234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ca-ES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1051560" y="27523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3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explicatius (</a:t>
            </a:r>
            <a:r>
              <a:rPr lang="ca-ES" sz="1300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</a:t>
            </a:r>
            <a:r>
              <a:rPr lang="ca-ES" sz="13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SEM)</a:t>
            </a:r>
            <a:endParaRPr lang="ca-ES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36027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ca-ES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4A7FC1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21" name="Text 19"/>
          <p:cNvSpPr/>
          <p:nvPr/>
        </p:nvSpPr>
        <p:spPr>
          <a:xfrm>
            <a:off x="4754880" y="10515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ca-ES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5349240" y="10515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3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Anàlisi textual</a:t>
            </a:r>
            <a:endParaRPr lang="ca-ES" sz="1300" noProof="0" dirty="0"/>
          </a:p>
        </p:txBody>
      </p:sp>
      <p:sp>
        <p:nvSpPr>
          <p:cNvPr id="23" name="Shape 21"/>
          <p:cNvSpPr/>
          <p:nvPr/>
        </p:nvSpPr>
        <p:spPr>
          <a:xfrm>
            <a:off x="4754880" y="1856232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4" name="Shape 22"/>
          <p:cNvSpPr/>
          <p:nvPr/>
        </p:nvSpPr>
        <p:spPr>
          <a:xfrm>
            <a:off x="4754880" y="1856232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4A7FC1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25" name="Text 23"/>
          <p:cNvSpPr/>
          <p:nvPr/>
        </p:nvSpPr>
        <p:spPr>
          <a:xfrm>
            <a:off x="4754880" y="190195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ca-ES" sz="1300" noProof="0" dirty="0"/>
          </a:p>
        </p:txBody>
      </p:sp>
      <p:sp>
        <p:nvSpPr>
          <p:cNvPr id="26" name="Text 24"/>
          <p:cNvSpPr/>
          <p:nvPr/>
        </p:nvSpPr>
        <p:spPr>
          <a:xfrm>
            <a:off x="5349240" y="19019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300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</a:t>
            </a:r>
            <a:r>
              <a:rPr lang="ca-ES" sz="13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Clustering + Profiling + KNN</a:t>
            </a:r>
            <a:endParaRPr lang="ca-ES" sz="1300" noProof="0" dirty="0"/>
          </a:p>
        </p:txBody>
      </p:sp>
      <p:sp>
        <p:nvSpPr>
          <p:cNvPr id="27" name="Shape 25"/>
          <p:cNvSpPr/>
          <p:nvPr/>
        </p:nvSpPr>
        <p:spPr>
          <a:xfrm>
            <a:off x="4754880" y="270662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8" name="Shape 26"/>
          <p:cNvSpPr/>
          <p:nvPr/>
        </p:nvSpPr>
        <p:spPr>
          <a:xfrm>
            <a:off x="4754880" y="2706624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4A7FC1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29" name="Text 27"/>
          <p:cNvSpPr/>
          <p:nvPr/>
        </p:nvSpPr>
        <p:spPr>
          <a:xfrm>
            <a:off x="4754880" y="275234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ca-ES" sz="1300" noProof="0" dirty="0"/>
          </a:p>
        </p:txBody>
      </p:sp>
      <p:sp>
        <p:nvSpPr>
          <p:cNvPr id="30" name="Text 28"/>
          <p:cNvSpPr/>
          <p:nvPr/>
        </p:nvSpPr>
        <p:spPr>
          <a:xfrm>
            <a:off x="5349240" y="27523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3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Pròxims passos: </a:t>
            </a:r>
            <a:r>
              <a:rPr lang="ca-ES" sz="1300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</a:t>
            </a:r>
            <a:r>
              <a:rPr lang="ca-ES" sz="13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ca-ES" sz="1300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ca-ES" sz="1300" noProof="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99F2A776-5EDF-BCD9-F0C3-732C02512977}"/>
              </a:ext>
            </a:extLst>
          </p:cNvPr>
          <p:cNvSpPr/>
          <p:nvPr/>
        </p:nvSpPr>
        <p:spPr>
          <a:xfrm>
            <a:off x="457200" y="3662105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2A8D7A5A-3BBA-9DC0-4A0C-52800511F600}"/>
              </a:ext>
            </a:extLst>
          </p:cNvPr>
          <p:cNvSpPr/>
          <p:nvPr/>
        </p:nvSpPr>
        <p:spPr>
          <a:xfrm>
            <a:off x="457200" y="3707825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ca-ES" sz="1300" noProof="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50BAF11A-9E8A-E748-2567-2155737FE117}"/>
              </a:ext>
            </a:extLst>
          </p:cNvPr>
          <p:cNvSpPr/>
          <p:nvPr/>
        </p:nvSpPr>
        <p:spPr>
          <a:xfrm>
            <a:off x="1051560" y="3707825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ca-E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Predictius (RF, </a:t>
            </a:r>
            <a:r>
              <a:rPr lang="ca-ES" sz="13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ca-E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SVM)</a:t>
            </a:r>
            <a:endParaRPr lang="ca-ES" sz="13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EBE897CB-D053-C86A-58E1-906F2D770E09}"/>
              </a:ext>
            </a:extLst>
          </p:cNvPr>
          <p:cNvSpPr/>
          <p:nvPr/>
        </p:nvSpPr>
        <p:spPr>
          <a:xfrm>
            <a:off x="457200" y="3662105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34C25D95-D022-431D-9099-850D9D1CBF55}"/>
              </a:ext>
            </a:extLst>
          </p:cNvPr>
          <p:cNvSpPr/>
          <p:nvPr/>
        </p:nvSpPr>
        <p:spPr>
          <a:xfrm>
            <a:off x="457200" y="3707825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ca-ES" sz="13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6400" b="1" noProof="0" dirty="0">
                <a:solidFill>
                  <a:srgbClr val="E8A020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ca-ES" sz="64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2600" b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Preprocessament</a:t>
            </a:r>
            <a:r>
              <a:rPr lang="ca-ES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 Anàlisi Descriptiva</a:t>
            </a:r>
            <a:endParaRPr lang="ca-ES" sz="26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200" b="1" noProof="0" dirty="0" err="1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Preprocessament</a:t>
            </a:r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 EDA</a:t>
            </a:r>
            <a:endParaRPr lang="ca-ES" sz="22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342</a:t>
            </a:r>
            <a:endParaRPr lang="ca-ES" sz="1000" noProof="0" dirty="0"/>
          </a:p>
        </p:txBody>
      </p:sp>
      <p:sp>
        <p:nvSpPr>
          <p:cNvPr id="5" name="Shape 3"/>
          <p:cNvSpPr/>
          <p:nvPr/>
        </p:nvSpPr>
        <p:spPr>
          <a:xfrm>
            <a:off x="256032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256032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Enquesta pròpia</a:t>
            </a:r>
            <a:endParaRPr lang="ca-ES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8" name="Text 6"/>
          <p:cNvSpPr/>
          <p:nvPr/>
        </p:nvSpPr>
        <p:spPr>
          <a:xfrm>
            <a:off x="466344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ca-ES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8229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/>
          <p:cNvSpPr/>
          <p:nvPr/>
        </p:nvSpPr>
        <p:spPr>
          <a:xfrm>
            <a:off x="685800" y="1280160"/>
            <a:ext cx="7772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Mostra: 342 estudiants universitaris, enquesta dissenyada ad hoc sobre hàbits d'assistència i factors relacionats.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dependent binària: REGULAR (assistència ≥ 80%) vs. IRREGULAR. Distribució: ~51% irregulars / ~49% regulars — mostra prou equilibrada.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d'IA: 7 ítems sobre ús de la IA com a eina d'estudi (hàbit, comprensió, rendiment, </a:t>
            </a:r>
            <a:r>
              <a:rPr lang="ca-ES" sz="1400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substitució, atenció, confiança).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motivació: desmotivació pedagògica, força major, autogestió del temps.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estratègies d'estudi: qualitat docent, avaluació, grups reduïts, dinàmica de classe.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control: curs, gènere, dedicació, desplaçament, nota mitjana.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 mínima (casos complets elevats). Escales </a:t>
            </a:r>
            <a:r>
              <a:rPr lang="ca-ES" sz="1400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</a:t>
            </a: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1–7 tractades com a ordinals.</a:t>
            </a:r>
            <a:endParaRPr lang="ca-ES" sz="14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6400" b="1" noProof="0" dirty="0">
                <a:solidFill>
                  <a:srgbClr val="E8A020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ca-ES" sz="64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Anàlisi Factorial Exploratòria (EFA)</a:t>
            </a:r>
            <a:endParaRPr lang="ca-ES" sz="26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EFA — Reducció de </a:t>
            </a:r>
            <a:r>
              <a:rPr lang="ca-ES" sz="2200" b="1" noProof="0" dirty="0" err="1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dimensionalitat</a:t>
            </a:r>
            <a:endParaRPr lang="ca-ES" sz="22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fa() obliqua</a:t>
            </a:r>
            <a:endParaRPr lang="ca-ES" sz="1000" noProof="0" dirty="0"/>
          </a:p>
        </p:txBody>
      </p:sp>
      <p:sp>
        <p:nvSpPr>
          <p:cNvPr id="5" name="Shape 3"/>
          <p:cNvSpPr/>
          <p:nvPr/>
        </p:nvSpPr>
        <p:spPr>
          <a:xfrm>
            <a:off x="256032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256032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Polychoric</a:t>
            </a:r>
            <a:endParaRPr lang="ca-ES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466344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factors</a:t>
            </a:r>
            <a:endParaRPr lang="ca-ES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8229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/>
          <p:cNvSpPr/>
          <p:nvPr/>
        </p:nvSpPr>
        <p:spPr>
          <a:xfrm>
            <a:off x="685800" y="1280160"/>
            <a:ext cx="7772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Objectiu: resumir els ítems de motivació, estratègies i ús de la IA en factors latents interpretables.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Mètode: correlació </a:t>
            </a:r>
            <a:r>
              <a:rPr lang="ca-ES" sz="1400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policòrica</a:t>
            </a: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(ítems ordinals: correlació subjacent). Criteris: càrregues ≥ 0.40 (relació de les variables amb els factors) i comunalitat ≥ 0.30 (proporció de variabilitat d’una variable que queda explicada pels factors).</a:t>
            </a:r>
            <a:endParaRPr lang="ca-ES" sz="14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DBB2C-BE3D-4E78-57F8-274B10DA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65CE14-C3D7-7BAA-8180-D3930D19CB5E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EFA — Factors </a:t>
            </a:r>
            <a:r>
              <a:rPr lang="ca-ES" sz="2200" b="1" noProof="0" dirty="0" err="1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motivacionals</a:t>
            </a:r>
            <a:endParaRPr lang="ca-ES" sz="22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F8902B-A2E7-69F0-A382-1D670B371C3E}"/>
              </a:ext>
            </a:extLst>
          </p:cNvPr>
          <p:cNvSpPr/>
          <p:nvPr/>
        </p:nvSpPr>
        <p:spPr>
          <a:xfrm>
            <a:off x="45720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AE5945-5AD9-49EE-CCF2-EE9A29BD2236}"/>
              </a:ext>
            </a:extLst>
          </p:cNvPr>
          <p:cNvSpPr/>
          <p:nvPr/>
        </p:nvSpPr>
        <p:spPr>
          <a:xfrm>
            <a:off x="45720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factors</a:t>
            </a:r>
            <a:endParaRPr lang="ca-ES" sz="10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5E80FDB-D44A-F1DC-E414-790F6E662C04}"/>
              </a:ext>
            </a:extLst>
          </p:cNvPr>
          <p:cNvSpPr/>
          <p:nvPr/>
        </p:nvSpPr>
        <p:spPr>
          <a:xfrm>
            <a:off x="466344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factors</a:t>
            </a:r>
            <a:endParaRPr lang="ca-ES" sz="100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51D09AC-36CA-31E3-0C59-B9AB68273F44}"/>
              </a:ext>
            </a:extLst>
          </p:cNvPr>
          <p:cNvSpPr/>
          <p:nvPr/>
        </p:nvSpPr>
        <p:spPr>
          <a:xfrm>
            <a:off x="457200" y="1170432"/>
            <a:ext cx="26289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2519AFA-C1F9-C170-23A8-B28913A6F6AA}"/>
              </a:ext>
            </a:extLst>
          </p:cNvPr>
          <p:cNvSpPr/>
          <p:nvPr/>
        </p:nvSpPr>
        <p:spPr>
          <a:xfrm>
            <a:off x="68580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MOT_DESMOTIVACIO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massa teòriques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Paper de l’alumnat passiu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Classes avorrides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Percepció de mala explicació del professor/a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Amics no van a classe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BC0000"/>
                </a:solidFill>
                <a:latin typeface="Calibri" pitchFamily="34" charset="0"/>
                <a:cs typeface="Calibri" pitchFamily="34" charset="-120"/>
              </a:rPr>
              <a:t>Associació amb assistència negativa</a:t>
            </a: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1FE1051D-FEFC-0F13-6F17-2A56A3D87448}"/>
              </a:ext>
            </a:extLst>
          </p:cNvPr>
          <p:cNvSpPr/>
          <p:nvPr/>
        </p:nvSpPr>
        <p:spPr>
          <a:xfrm>
            <a:off x="3257550" y="1170432"/>
            <a:ext cx="26289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62C5B5A-896A-F10A-B692-49E5974DD4DD}"/>
              </a:ext>
            </a:extLst>
          </p:cNvPr>
          <p:cNvSpPr/>
          <p:nvPr/>
        </p:nvSpPr>
        <p:spPr>
          <a:xfrm>
            <a:off x="348615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MOT_AUTOGESTIO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Preferència per l’aprenentatge autònom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Material del CV suficient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Percepció de que la classe no ajuda a aprovar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BC0000"/>
                </a:solidFill>
                <a:latin typeface="Calibri" pitchFamily="34" charset="0"/>
                <a:cs typeface="Calibri" pitchFamily="34" charset="-120"/>
              </a:rPr>
              <a:t>Associació amb assistència negativa</a:t>
            </a:r>
          </a:p>
          <a:p>
            <a:pPr>
              <a:spcAft>
                <a:spcPts val="400"/>
              </a:spcAft>
              <a:buSzPct val="100000"/>
            </a:pPr>
            <a:endParaRPr lang="ca-ES" sz="1400" noProof="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74EBE43-C0B8-41B8-D70D-A72B39A0D892}"/>
              </a:ext>
            </a:extLst>
          </p:cNvPr>
          <p:cNvSpPr/>
          <p:nvPr/>
        </p:nvSpPr>
        <p:spPr>
          <a:xfrm>
            <a:off x="6057900" y="1170432"/>
            <a:ext cx="26289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E68BC59A-AB3E-59B0-CB59-11F7EA1D5582}"/>
              </a:ext>
            </a:extLst>
          </p:cNvPr>
          <p:cNvSpPr/>
          <p:nvPr/>
        </p:nvSpPr>
        <p:spPr>
          <a:xfrm>
            <a:off x="628650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MOT_FORCA_MAJOR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Obligacions familiars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Problemes salut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Feina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5C8E3A"/>
                </a:solidFill>
                <a:latin typeface="Calibri" pitchFamily="34" charset="0"/>
                <a:cs typeface="Calibri" pitchFamily="34" charset="-120"/>
              </a:rPr>
              <a:t>Associació amb assistència positiva</a:t>
            </a:r>
          </a:p>
        </p:txBody>
      </p:sp>
    </p:spTree>
    <p:extLst>
      <p:ext uri="{BB962C8B-B14F-4D97-AF65-F5344CB8AC3E}">
        <p14:creationId xmlns:p14="http://schemas.microsoft.com/office/powerpoint/2010/main" val="3491079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17480-D586-A326-A6D0-B745B475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C441A3-C0DE-7D72-C3C7-4CF8D2B253D3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EFA — Factors </a:t>
            </a:r>
            <a:r>
              <a:rPr lang="ca-ES" sz="2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les estratègies</a:t>
            </a:r>
            <a:endParaRPr lang="ca-ES" sz="22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C47FC9-AB7C-03E3-CC4F-B011C062F65B}"/>
              </a:ext>
            </a:extLst>
          </p:cNvPr>
          <p:cNvSpPr/>
          <p:nvPr/>
        </p:nvSpPr>
        <p:spPr>
          <a:xfrm>
            <a:off x="45720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677173-19AA-4321-B034-3C26BFC3F1BF}"/>
              </a:ext>
            </a:extLst>
          </p:cNvPr>
          <p:cNvSpPr/>
          <p:nvPr/>
        </p:nvSpPr>
        <p:spPr>
          <a:xfrm>
            <a:off x="45720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factors</a:t>
            </a:r>
            <a:endParaRPr lang="ca-ES" sz="10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316AC99-FC68-DA47-E525-58A7277E30F6}"/>
              </a:ext>
            </a:extLst>
          </p:cNvPr>
          <p:cNvSpPr/>
          <p:nvPr/>
        </p:nvSpPr>
        <p:spPr>
          <a:xfrm>
            <a:off x="466344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factors</a:t>
            </a:r>
            <a:endParaRPr lang="ca-ES" sz="100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A8362B8-5216-F9ED-78F2-8C2C222D10A8}"/>
              </a:ext>
            </a:extLst>
          </p:cNvPr>
          <p:cNvSpPr/>
          <p:nvPr/>
        </p:nvSpPr>
        <p:spPr>
          <a:xfrm>
            <a:off x="457200" y="1170432"/>
            <a:ext cx="26289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AD26252-268A-576F-7DD5-8D4E344D73A4}"/>
              </a:ext>
            </a:extLst>
          </p:cNvPr>
          <p:cNvSpPr/>
          <p:nvPr/>
        </p:nvSpPr>
        <p:spPr>
          <a:xfrm>
            <a:off x="68580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EST_QUALITAT_DOC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 explicació del professor/a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Bon ritme d’explicació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Bon clima</a:t>
            </a:r>
            <a:endParaRPr lang="ca-ES" sz="1400" noProof="0" dirty="0">
              <a:solidFill>
                <a:srgbClr val="1A2744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ca-ES" sz="1400" dirty="0">
                <a:solidFill>
                  <a:srgbClr val="FFC000"/>
                </a:solidFill>
                <a:latin typeface="Calibri" pitchFamily="34" charset="0"/>
                <a:cs typeface="Calibri" pitchFamily="34" charset="-120"/>
              </a:rPr>
              <a:t>No hi ha associació significativa amb l’assistència</a:t>
            </a: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1266A475-38E5-457D-2E1A-51853F6306C6}"/>
              </a:ext>
            </a:extLst>
          </p:cNvPr>
          <p:cNvSpPr/>
          <p:nvPr/>
        </p:nvSpPr>
        <p:spPr>
          <a:xfrm>
            <a:off x="3257550" y="1170432"/>
            <a:ext cx="26289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0E71F11-F228-52F6-322B-F631CE6BA06B}"/>
              </a:ext>
            </a:extLst>
          </p:cNvPr>
          <p:cNvSpPr/>
          <p:nvPr/>
        </p:nvSpPr>
        <p:spPr>
          <a:xfrm>
            <a:off x="348615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EST_AVALUACIO_AC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Activitats d’AC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Pes de l’AC en la nota final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Participació activa</a:t>
            </a:r>
          </a:p>
          <a:p>
            <a:pPr>
              <a:spcAft>
                <a:spcPts val="400"/>
              </a:spcAft>
              <a:buSzPct val="100000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ca-ES" sz="1400" dirty="0">
                <a:solidFill>
                  <a:srgbClr val="FFC000"/>
                </a:solidFill>
                <a:latin typeface="Calibri" pitchFamily="34" charset="0"/>
                <a:cs typeface="Calibri" pitchFamily="34" charset="-120"/>
              </a:rPr>
              <a:t>No hi ha associació significativa amb l’assistència</a:t>
            </a: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1E085766-CACC-49E3-C015-2F480ABB663C}"/>
              </a:ext>
            </a:extLst>
          </p:cNvPr>
          <p:cNvSpPr/>
          <p:nvPr/>
        </p:nvSpPr>
        <p:spPr>
          <a:xfrm>
            <a:off x="6057900" y="1170432"/>
            <a:ext cx="2628900" cy="17632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306753D5-7465-5355-27D3-CE8AA33CE52E}"/>
              </a:ext>
            </a:extLst>
          </p:cNvPr>
          <p:cNvSpPr/>
          <p:nvPr/>
        </p:nvSpPr>
        <p:spPr>
          <a:xfrm>
            <a:off x="6286500" y="1280160"/>
            <a:ext cx="2286000" cy="1532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EST_TEMPS_CLASSE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Classes més curtes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Es fan descansos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ca-ES" sz="1400" dirty="0">
                <a:solidFill>
                  <a:srgbClr val="FFC000"/>
                </a:solidFill>
                <a:latin typeface="Calibri" pitchFamily="34" charset="0"/>
                <a:cs typeface="Calibri" pitchFamily="34" charset="-120"/>
              </a:rPr>
              <a:t>No hi ha associació significativa amb l’assistència</a:t>
            </a: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5B4FA98B-BB5D-383E-58BB-4CFEED752B1A}"/>
              </a:ext>
            </a:extLst>
          </p:cNvPr>
          <p:cNvSpPr/>
          <p:nvPr/>
        </p:nvSpPr>
        <p:spPr>
          <a:xfrm>
            <a:off x="6057900" y="3086100"/>
            <a:ext cx="2628900" cy="17632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E4B303A-868D-5109-4943-931698A206B0}"/>
              </a:ext>
            </a:extLst>
          </p:cNvPr>
          <p:cNvSpPr/>
          <p:nvPr/>
        </p:nvSpPr>
        <p:spPr>
          <a:xfrm>
            <a:off x="6286500" y="3195828"/>
            <a:ext cx="2286000" cy="1532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EST_GRUPS_REDUITS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Grups reduïts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ca-ES" sz="1400" dirty="0">
                <a:solidFill>
                  <a:srgbClr val="FFC000"/>
                </a:solidFill>
                <a:latin typeface="Calibri" pitchFamily="34" charset="0"/>
                <a:cs typeface="Calibri" pitchFamily="34" charset="-120"/>
              </a:rPr>
              <a:t>No hi ha associació significativa amb l’assistència</a:t>
            </a:r>
          </a:p>
        </p:txBody>
      </p:sp>
    </p:spTree>
    <p:extLst>
      <p:ext uri="{BB962C8B-B14F-4D97-AF65-F5344CB8AC3E}">
        <p14:creationId xmlns:p14="http://schemas.microsoft.com/office/powerpoint/2010/main" val="94021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34D02-AF43-3366-260D-2F13566DB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837783-3027-D745-7AD4-1A95767FD4D4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EFA — </a:t>
            </a:r>
            <a:r>
              <a:rPr lang="ca-ES" sz="2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de l’ús de la IA</a:t>
            </a:r>
            <a:endParaRPr lang="ca-ES" sz="22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B6F603-EBF5-7D35-3154-20A7298418F3}"/>
              </a:ext>
            </a:extLst>
          </p:cNvPr>
          <p:cNvSpPr/>
          <p:nvPr/>
        </p:nvSpPr>
        <p:spPr>
          <a:xfrm>
            <a:off x="45720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4DC6B8-4743-A9AF-1678-177C06F0D8A2}"/>
              </a:ext>
            </a:extLst>
          </p:cNvPr>
          <p:cNvSpPr/>
          <p:nvPr/>
        </p:nvSpPr>
        <p:spPr>
          <a:xfrm>
            <a:off x="45720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</a:t>
            </a:r>
            <a:endParaRPr lang="ca-ES" sz="100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BA90B9F-344F-8362-2223-1D76A0D99772}"/>
              </a:ext>
            </a:extLst>
          </p:cNvPr>
          <p:cNvSpPr/>
          <p:nvPr/>
        </p:nvSpPr>
        <p:spPr>
          <a:xfrm>
            <a:off x="457200" y="1170432"/>
            <a:ext cx="3911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4EBD0B1-2A0D-9439-67CC-867B5E9B908B}"/>
              </a:ext>
            </a:extLst>
          </p:cNvPr>
          <p:cNvSpPr/>
          <p:nvPr/>
        </p:nvSpPr>
        <p:spPr>
          <a:xfrm>
            <a:off x="685800" y="1280160"/>
            <a:ext cx="353695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IA_EINA_ESTUDI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comprendre millor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S’utilitza habitualment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 err="1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PDFs</a:t>
            </a: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 per entrenar-la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Millora el rendiment acadèmic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BC0000"/>
                </a:solidFill>
                <a:latin typeface="Calibri" pitchFamily="34" charset="0"/>
                <a:cs typeface="Calibri" pitchFamily="34" charset="-120"/>
              </a:rPr>
              <a:t>Associació amb assistència negativa</a:t>
            </a: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E2EE1954-2932-D436-D896-B0C01855B38E}"/>
              </a:ext>
            </a:extLst>
          </p:cNvPr>
          <p:cNvSpPr/>
          <p:nvPr/>
        </p:nvSpPr>
        <p:spPr>
          <a:xfrm>
            <a:off x="4718050" y="1170432"/>
            <a:ext cx="410845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39052C3-0240-4C28-5CF7-14461A708419}"/>
              </a:ext>
            </a:extLst>
          </p:cNvPr>
          <p:cNvSpPr/>
          <p:nvPr/>
        </p:nvSpPr>
        <p:spPr>
          <a:xfrm>
            <a:off x="4889500" y="1280160"/>
            <a:ext cx="377825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IA_SUBSTITUCIO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Manca d’atenció a classe perquè després ho explica la IA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Confiança en les seves respostes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cs typeface="Calibri" pitchFamily="34" charset="-120"/>
              </a:rPr>
              <a:t>Substitueix la necessitat d’anar a classe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ca-ES" sz="1400" noProof="0" dirty="0">
                <a:solidFill>
                  <a:srgbClr val="BC0000"/>
                </a:solidFill>
                <a:latin typeface="Calibri" pitchFamily="34" charset="0"/>
                <a:cs typeface="Calibri" pitchFamily="34" charset="-120"/>
              </a:rPr>
              <a:t>Associació amb assistència negativa</a:t>
            </a:r>
          </a:p>
          <a:p>
            <a:pPr>
              <a:spcAft>
                <a:spcPts val="400"/>
              </a:spcAft>
              <a:buSzPct val="100000"/>
            </a:pPr>
            <a:endParaRPr lang="ca-ES" sz="1400" noProof="0" dirty="0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A4682A5D-268F-5350-2D17-BD10DA46F302}"/>
              </a:ext>
            </a:extLst>
          </p:cNvPr>
          <p:cNvSpPr/>
          <p:nvPr/>
        </p:nvSpPr>
        <p:spPr>
          <a:xfrm>
            <a:off x="2651760" y="772668"/>
            <a:ext cx="473329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a-E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Millors resultats amb les variables crues, amb factors perd significació als models</a:t>
            </a:r>
            <a:endParaRPr kumimoji="0" lang="ca-E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49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6400" b="1" noProof="0" dirty="0">
                <a:solidFill>
                  <a:srgbClr val="E8A020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ca-ES" sz="64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explicatius</a:t>
            </a:r>
            <a:endParaRPr lang="ca-ES" sz="26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— Estructura causal de l'absentisme</a:t>
            </a:r>
            <a:endParaRPr lang="ca-ES" sz="22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lavaan</a:t>
            </a:r>
            <a:endParaRPr lang="ca-ES" sz="1000" noProof="0" dirty="0"/>
          </a:p>
        </p:txBody>
      </p:sp>
      <p:sp>
        <p:nvSpPr>
          <p:cNvPr id="5" name="Shape 3"/>
          <p:cNvSpPr/>
          <p:nvPr/>
        </p:nvSpPr>
        <p:spPr>
          <a:xfrm>
            <a:off x="256032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256032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WLSMV</a:t>
            </a:r>
            <a:endParaRPr lang="ca-ES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8" name="Text 6"/>
          <p:cNvSpPr/>
          <p:nvPr/>
        </p:nvSpPr>
        <p:spPr>
          <a:xfrm>
            <a:off x="466344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CFI=0.961</a:t>
            </a:r>
            <a:endParaRPr lang="ca-ES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8229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/>
          <p:cNvSpPr/>
          <p:nvPr/>
        </p:nvSpPr>
        <p:spPr>
          <a:xfrm>
            <a:off x="685800" y="1280160"/>
            <a:ext cx="7772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Objectiu: anar més enllà de la correlació i modelar relacions causals entre factors latents i assistència.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Estimador WLSMV (robust per a variables ordinals). Ajust final: CFI = 0.961, RMSEA = 0.048, SRMR = 0.071 → EXCEL·LENT.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ca-ES" sz="1400" dirty="0">
              <a:solidFill>
                <a:srgbClr val="1A27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ca-ES" sz="1400" dirty="0">
              <a:solidFill>
                <a:srgbClr val="1A2744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ca-ES" sz="14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a 11">
                <a:extLst>
                  <a:ext uri="{FF2B5EF4-FFF2-40B4-BE49-F238E27FC236}">
                    <a16:creationId xmlns:a16="http://schemas.microsoft.com/office/drawing/2014/main" id="{3689CB8C-980C-ECB8-C4CE-32BF9785E8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664444"/>
                  </p:ext>
                </p:extLst>
              </p:nvPr>
            </p:nvGraphicFramePr>
            <p:xfrm>
              <a:off x="1871980" y="2269740"/>
              <a:ext cx="5684520" cy="198228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140385">
                      <a:extLst>
                        <a:ext uri="{9D8B030D-6E8A-4147-A177-3AD203B41FA5}">
                          <a16:colId xmlns:a16="http://schemas.microsoft.com/office/drawing/2014/main" val="1393660521"/>
                        </a:ext>
                      </a:extLst>
                    </a:gridCol>
                    <a:gridCol w="552810">
                      <a:extLst>
                        <a:ext uri="{9D8B030D-6E8A-4147-A177-3AD203B41FA5}">
                          <a16:colId xmlns:a16="http://schemas.microsoft.com/office/drawing/2014/main" val="2336139240"/>
                        </a:ext>
                      </a:extLst>
                    </a:gridCol>
                    <a:gridCol w="903079">
                      <a:extLst>
                        <a:ext uri="{9D8B030D-6E8A-4147-A177-3AD203B41FA5}">
                          <a16:colId xmlns:a16="http://schemas.microsoft.com/office/drawing/2014/main" val="1468853878"/>
                        </a:ext>
                      </a:extLst>
                    </a:gridCol>
                    <a:gridCol w="951877">
                      <a:extLst>
                        <a:ext uri="{9D8B030D-6E8A-4147-A177-3AD203B41FA5}">
                          <a16:colId xmlns:a16="http://schemas.microsoft.com/office/drawing/2014/main" val="3452320929"/>
                        </a:ext>
                      </a:extLst>
                    </a:gridCol>
                    <a:gridCol w="665110">
                      <a:extLst>
                        <a:ext uri="{9D8B030D-6E8A-4147-A177-3AD203B41FA5}">
                          <a16:colId xmlns:a16="http://schemas.microsoft.com/office/drawing/2014/main" val="975429825"/>
                        </a:ext>
                      </a:extLst>
                    </a:gridCol>
                    <a:gridCol w="471259">
                      <a:extLst>
                        <a:ext uri="{9D8B030D-6E8A-4147-A177-3AD203B41FA5}">
                          <a16:colId xmlns:a16="http://schemas.microsoft.com/office/drawing/2014/main" val="67734822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Variable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ca-ES" sz="1100" kern="1400">
                                    <a:effectLst/>
                                  </a:rPr>
                                  <m:t>𝛽</m:t>
                                </m:r>
                                <m:r>
                                  <a:rPr lang="ca-ES" sz="1100" kern="1400">
                                    <a:effectLst/>
                                  </a:rPr>
                                  <m:t> </m:t>
                                </m:r>
                                <m:r>
                                  <a:rPr lang="ca-ES" sz="1100" kern="1400">
                                    <a:effectLst/>
                                  </a:rPr>
                                  <m:t>𝑒𝑠𝑡</m:t>
                                </m:r>
                                <m:r>
                                  <a:rPr lang="ca-ES" sz="1100" kern="1400">
                                    <a:effectLst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Efecte (pp)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IC 95%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p-valor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Signe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77685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Tipus d'avaluació (T_AVAL_num)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0,351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+40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[29,0; 51,0]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+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776227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Nota d'expedient (NOTA_num)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0,183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+6,1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[2,9; 9,3]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+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425312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Primer curs (CURS_1R_d)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0,178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+12,2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[4,5; 19,9]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0,002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+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9033227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Desmotivació pedagògica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−0,263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-7,7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[−11,3; −4,0]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-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511588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Força major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0,198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+5,8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[3,0; 8,5]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+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885145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Avaluació contínua (incentiu)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0,206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+6,0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[3,1; 8,9]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+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2418101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Substitució per IA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0,004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+0,1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[-3,3; 3,5]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0,952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 err="1">
                              <a:effectLst/>
                            </a:rPr>
                            <a:t>n.s</a:t>
                          </a:r>
                          <a:r>
                            <a:rPr lang="ca-ES" sz="1100" kern="1400" dirty="0">
                              <a:effectLst/>
                            </a:rPr>
                            <a:t>.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075431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a 11">
                <a:extLst>
                  <a:ext uri="{FF2B5EF4-FFF2-40B4-BE49-F238E27FC236}">
                    <a16:creationId xmlns:a16="http://schemas.microsoft.com/office/drawing/2014/main" id="{3689CB8C-980C-ECB8-C4CE-32BF9785E8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664444"/>
                  </p:ext>
                </p:extLst>
              </p:nvPr>
            </p:nvGraphicFramePr>
            <p:xfrm>
              <a:off x="1871980" y="2269740"/>
              <a:ext cx="5684520" cy="198228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140385">
                      <a:extLst>
                        <a:ext uri="{9D8B030D-6E8A-4147-A177-3AD203B41FA5}">
                          <a16:colId xmlns:a16="http://schemas.microsoft.com/office/drawing/2014/main" val="1393660521"/>
                        </a:ext>
                      </a:extLst>
                    </a:gridCol>
                    <a:gridCol w="552810">
                      <a:extLst>
                        <a:ext uri="{9D8B030D-6E8A-4147-A177-3AD203B41FA5}">
                          <a16:colId xmlns:a16="http://schemas.microsoft.com/office/drawing/2014/main" val="2336139240"/>
                        </a:ext>
                      </a:extLst>
                    </a:gridCol>
                    <a:gridCol w="903079">
                      <a:extLst>
                        <a:ext uri="{9D8B030D-6E8A-4147-A177-3AD203B41FA5}">
                          <a16:colId xmlns:a16="http://schemas.microsoft.com/office/drawing/2014/main" val="1468853878"/>
                        </a:ext>
                      </a:extLst>
                    </a:gridCol>
                    <a:gridCol w="951877">
                      <a:extLst>
                        <a:ext uri="{9D8B030D-6E8A-4147-A177-3AD203B41FA5}">
                          <a16:colId xmlns:a16="http://schemas.microsoft.com/office/drawing/2014/main" val="3452320929"/>
                        </a:ext>
                      </a:extLst>
                    </a:gridCol>
                    <a:gridCol w="665110">
                      <a:extLst>
                        <a:ext uri="{9D8B030D-6E8A-4147-A177-3AD203B41FA5}">
                          <a16:colId xmlns:a16="http://schemas.microsoft.com/office/drawing/2014/main" val="975429825"/>
                        </a:ext>
                      </a:extLst>
                    </a:gridCol>
                    <a:gridCol w="471259">
                      <a:extLst>
                        <a:ext uri="{9D8B030D-6E8A-4147-A177-3AD203B41FA5}">
                          <a16:colId xmlns:a16="http://schemas.microsoft.com/office/drawing/2014/main" val="677348229"/>
                        </a:ext>
                      </a:extLst>
                    </a:gridCol>
                  </a:tblGrid>
                  <a:tr h="40386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Variable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ca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86813" t="-1515" r="-543956" b="-4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Efecte (pp)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IC 95%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p-valor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Signe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776856"/>
                      </a:ext>
                    </a:extLst>
                  </a:tr>
                  <a:tr h="22548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Tipus d'avaluació (T_AVAL_num)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0,351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+40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[29,0; 51,0]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+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77622706"/>
                      </a:ext>
                    </a:extLst>
                  </a:tr>
                  <a:tr h="22548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Nota d'expedient (NOTA_num)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0,183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+6,1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[2,9; 9,3]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+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42531204"/>
                      </a:ext>
                    </a:extLst>
                  </a:tr>
                  <a:tr h="22548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Primer curs (CURS_1R_d)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0,178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+12,2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[4,5; 19,9]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0,002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+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90332279"/>
                      </a:ext>
                    </a:extLst>
                  </a:tr>
                  <a:tr h="22548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Desmotivació pedagògica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−0,263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-7,7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[−11,3; −4,0]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-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51158836"/>
                      </a:ext>
                    </a:extLst>
                  </a:tr>
                  <a:tr h="22548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Força major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0,198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+5,8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[3,0; 8,5]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+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88514512"/>
                      </a:ext>
                    </a:extLst>
                  </a:tr>
                  <a:tr h="22548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Avaluació contínua (incentiu)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0,206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+6,0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[3,1; 8,9]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&lt; 0,001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+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24181011"/>
                      </a:ext>
                    </a:extLst>
                  </a:tr>
                  <a:tr h="22548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Substitució per IA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0,004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>
                              <a:effectLst/>
                            </a:rPr>
                            <a:t>+0,1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[-3,3; 3,5]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>
                              <a:effectLst/>
                            </a:rPr>
                            <a:t>0,952</a:t>
                          </a:r>
                          <a:endParaRPr lang="ca-ES" sz="1100" kern="14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ca-ES" sz="1100" kern="1400" dirty="0" err="1">
                              <a:effectLst/>
                            </a:rPr>
                            <a:t>n.s</a:t>
                          </a:r>
                          <a:r>
                            <a:rPr lang="ca-ES" sz="1100" kern="1400" dirty="0">
                              <a:effectLst/>
                            </a:rPr>
                            <a:t>.</a:t>
                          </a:r>
                          <a:endParaRPr lang="ca-ES" sz="1100" kern="14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0754315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200" b="1" noProof="0" dirty="0" err="1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Logit</a:t>
            </a:r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Explicatiu — Factors que determinen assistir</a:t>
            </a:r>
            <a:endParaRPr lang="ca-ES" sz="22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 BIC</a:t>
            </a:r>
            <a:endParaRPr lang="ca-ES" sz="1000" noProof="0" dirty="0"/>
          </a:p>
        </p:txBody>
      </p:sp>
      <p:sp>
        <p:nvSpPr>
          <p:cNvPr id="5" name="Shape 3"/>
          <p:cNvSpPr/>
          <p:nvPr/>
        </p:nvSpPr>
        <p:spPr>
          <a:xfrm>
            <a:off x="256032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6" name="Text 4"/>
          <p:cNvSpPr/>
          <p:nvPr/>
        </p:nvSpPr>
        <p:spPr>
          <a:xfrm>
            <a:off x="256032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ca-ES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1920240" cy="301752"/>
          </a:xfrm>
          <a:prstGeom prst="roundRect">
            <a:avLst>
              <a:gd name="adj" fmla="val 45455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8" name="Text 6"/>
          <p:cNvSpPr/>
          <p:nvPr/>
        </p:nvSpPr>
        <p:spPr>
          <a:xfrm>
            <a:off x="466344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Efectes marginals</a:t>
            </a:r>
            <a:endParaRPr lang="ca-ES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8229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/>
          <p:cNvSpPr/>
          <p:nvPr/>
        </p:nvSpPr>
        <p:spPr>
          <a:xfrm>
            <a:off x="685800" y="1280160"/>
            <a:ext cx="7772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Objectiu: identificar els determinants individuals de l'assistència amb un model interpretable.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 de variables per BIC (penalitza complexitat). Es comproven termes quadràtics i interaccions rellevants.</a:t>
            </a:r>
            <a:endParaRPr lang="ca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més important: IA_SUBST — efecte marginal negatiu (AME ≈ −0.08)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Pseudo-R² </a:t>
            </a:r>
            <a:r>
              <a:rPr lang="ca-ES" sz="1400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McFadden</a:t>
            </a: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0.27. AUC test = 0.856. Bon poder discriminant com a model explicatiu.</a:t>
            </a:r>
          </a:p>
          <a:p>
            <a:pPr>
              <a:spcAft>
                <a:spcPts val="400"/>
              </a:spcAft>
              <a:buSzPct val="100000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endParaRPr lang="ca-ES" sz="1400" noProof="0" dirty="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5873D054-118B-C2A6-44E8-1E522CEDA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184973"/>
              </p:ext>
            </p:extLst>
          </p:nvPr>
        </p:nvGraphicFramePr>
        <p:xfrm>
          <a:off x="1493733" y="2652481"/>
          <a:ext cx="5973653" cy="20294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11193">
                  <a:extLst>
                    <a:ext uri="{9D8B030D-6E8A-4147-A177-3AD203B41FA5}">
                      <a16:colId xmlns:a16="http://schemas.microsoft.com/office/drawing/2014/main" val="3028671322"/>
                    </a:ext>
                  </a:extLst>
                </a:gridCol>
                <a:gridCol w="1218634">
                  <a:extLst>
                    <a:ext uri="{9D8B030D-6E8A-4147-A177-3AD203B41FA5}">
                      <a16:colId xmlns:a16="http://schemas.microsoft.com/office/drawing/2014/main" val="561524024"/>
                    </a:ext>
                  </a:extLst>
                </a:gridCol>
                <a:gridCol w="1370617">
                  <a:extLst>
                    <a:ext uri="{9D8B030D-6E8A-4147-A177-3AD203B41FA5}">
                      <a16:colId xmlns:a16="http://schemas.microsoft.com/office/drawing/2014/main" val="451970217"/>
                    </a:ext>
                  </a:extLst>
                </a:gridCol>
                <a:gridCol w="1273209">
                  <a:extLst>
                    <a:ext uri="{9D8B030D-6E8A-4147-A177-3AD203B41FA5}">
                      <a16:colId xmlns:a16="http://schemas.microsoft.com/office/drawing/2014/main" val="801617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 dirty="0">
                          <a:effectLst/>
                        </a:rPr>
                        <a:t>Variable</a:t>
                      </a:r>
                      <a:endParaRPr lang="ca-ES" sz="1100" kern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OR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Ic (95%)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AME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008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MOT_DESMOTIVACIO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0,472***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[0,331; 0,674]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−8,6 pp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941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IA_SUBST_num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0,687***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[0,580; 0,813]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−6,3 pp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7033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MOT_FORCA_MAJOR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1,428**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 dirty="0">
                          <a:effectLst/>
                        </a:rPr>
                        <a:t>[1,092; 1,868]</a:t>
                      </a:r>
                      <a:endParaRPr lang="ca-ES" sz="1100" kern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+5,9 pp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8959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EST_AVALUACIO_AC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1,542**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[1,161; 2,047]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+7,2 pp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1766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NOTA_num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1,624**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[1,169; 2,255]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+8,1 pp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6776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CURS_1R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 dirty="0">
                          <a:effectLst/>
                        </a:rPr>
                        <a:t>2,679**</a:t>
                      </a:r>
                      <a:endParaRPr lang="ca-ES" sz="1100" kern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[1,376; 5,220]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+18,7 pp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6028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T_AVALContinuada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8,232**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[2,138; 31,700]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 dirty="0">
                          <a:effectLst/>
                        </a:rPr>
                        <a:t>+35,5 </a:t>
                      </a:r>
                      <a:r>
                        <a:rPr lang="ca-ES" sz="1100" kern="1400" dirty="0" err="1">
                          <a:effectLst/>
                        </a:rPr>
                        <a:t>pp</a:t>
                      </a:r>
                      <a:endParaRPr lang="ca-ES" sz="1100" kern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7737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MOT_DESMOTIVACIO:CURS_1R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 dirty="0">
                          <a:effectLst/>
                        </a:rPr>
                        <a:t>2,792**</a:t>
                      </a:r>
                      <a:endParaRPr lang="ca-ES" sz="1100" kern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 dirty="0">
                          <a:effectLst/>
                        </a:rPr>
                        <a:t>[1,407; 5,540]</a:t>
                      </a:r>
                      <a:endParaRPr lang="ca-ES" sz="1100" kern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 dirty="0">
                          <a:effectLst/>
                        </a:rPr>
                        <a:t>-</a:t>
                      </a:r>
                      <a:endParaRPr lang="ca-ES" sz="1100" kern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18151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E6425-1C43-D275-9C38-A5D4A72E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8B5D11-60DE-CEA9-6C90-D35EF67B5652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200" b="1" noProof="0" dirty="0" err="1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</a:t>
            </a:r>
            <a:r>
              <a:rPr lang="ca-ES" sz="2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 </a:t>
            </a:r>
            <a:r>
              <a:rPr lang="ca-ES" sz="2200" b="1" dirty="0" err="1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Logit</a:t>
            </a:r>
            <a:r>
              <a:rPr lang="ca-ES" sz="2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ca-ES" sz="2200" b="1" dirty="0" err="1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r>
              <a:rPr lang="ca-ES" sz="2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SEM</a:t>
            </a:r>
            <a:endParaRPr lang="ca-ES" sz="22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27D96C-229C-08C5-F5EB-C7A8FE8A67DB}"/>
              </a:ext>
            </a:extLst>
          </p:cNvPr>
          <p:cNvSpPr/>
          <p:nvPr/>
        </p:nvSpPr>
        <p:spPr>
          <a:xfrm>
            <a:off x="256032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ca-ES" sz="10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D673E7-6455-706E-31E0-F820515B1021}"/>
              </a:ext>
            </a:extLst>
          </p:cNvPr>
          <p:cNvSpPr/>
          <p:nvPr/>
        </p:nvSpPr>
        <p:spPr>
          <a:xfrm>
            <a:off x="466344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Efectes marginals</a:t>
            </a:r>
            <a:endParaRPr lang="ca-ES" sz="100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3448393-8837-5327-3223-68262A72F9AD}"/>
              </a:ext>
            </a:extLst>
          </p:cNvPr>
          <p:cNvSpPr/>
          <p:nvPr/>
        </p:nvSpPr>
        <p:spPr>
          <a:xfrm>
            <a:off x="457200" y="1170432"/>
            <a:ext cx="8229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CA3AE32-63CF-16AF-69CD-4BC75F1EEE1B}"/>
              </a:ext>
            </a:extLst>
          </p:cNvPr>
          <p:cNvSpPr/>
          <p:nvPr/>
        </p:nvSpPr>
        <p:spPr>
          <a:xfrm>
            <a:off x="685800" y="1280160"/>
            <a:ext cx="7772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endParaRPr lang="ca-ES" sz="1400" noProof="0" dirty="0"/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F6CE89BB-05B5-FAF3-7E2C-2EF0F8041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76090"/>
              </p:ext>
            </p:extLst>
          </p:nvPr>
        </p:nvGraphicFramePr>
        <p:xfrm>
          <a:off x="1553368" y="1788183"/>
          <a:ext cx="5854384" cy="20911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9041">
                  <a:extLst>
                    <a:ext uri="{9D8B030D-6E8A-4147-A177-3AD203B41FA5}">
                      <a16:colId xmlns:a16="http://schemas.microsoft.com/office/drawing/2014/main" val="2857257569"/>
                    </a:ext>
                  </a:extLst>
                </a:gridCol>
                <a:gridCol w="1194302">
                  <a:extLst>
                    <a:ext uri="{9D8B030D-6E8A-4147-A177-3AD203B41FA5}">
                      <a16:colId xmlns:a16="http://schemas.microsoft.com/office/drawing/2014/main" val="3375365627"/>
                    </a:ext>
                  </a:extLst>
                </a:gridCol>
                <a:gridCol w="1343252">
                  <a:extLst>
                    <a:ext uri="{9D8B030D-6E8A-4147-A177-3AD203B41FA5}">
                      <a16:colId xmlns:a16="http://schemas.microsoft.com/office/drawing/2014/main" val="2063755946"/>
                    </a:ext>
                  </a:extLst>
                </a:gridCol>
                <a:gridCol w="1247789">
                  <a:extLst>
                    <a:ext uri="{9D8B030D-6E8A-4147-A177-3AD203B41FA5}">
                      <a16:colId xmlns:a16="http://schemas.microsoft.com/office/drawing/2014/main" val="2415623477"/>
                    </a:ext>
                  </a:extLst>
                </a:gridCol>
              </a:tblGrid>
              <a:tr h="2613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Variable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Direcció SEM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Direcció Logit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Consistent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8650186"/>
                  </a:ext>
                </a:extLst>
              </a:tr>
              <a:tr h="2613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T_AVAL_num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Sí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5753955"/>
                  </a:ext>
                </a:extLst>
              </a:tr>
              <a:tr h="2613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DESMOTIVACIO_PEDAG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-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-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Sí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3988541"/>
                  </a:ext>
                </a:extLst>
              </a:tr>
              <a:tr h="2613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AVALUACIO_AC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Sí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0468784"/>
                  </a:ext>
                </a:extLst>
              </a:tr>
              <a:tr h="2613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NOTA_num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Sí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9387671"/>
                  </a:ext>
                </a:extLst>
              </a:tr>
              <a:tr h="2613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CURS_1R_d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Sí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750352"/>
                  </a:ext>
                </a:extLst>
              </a:tr>
              <a:tr h="2613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FORCA_MAJOR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+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Sí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9280392"/>
                  </a:ext>
                </a:extLst>
              </a:tr>
              <a:tr h="2613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IA_SUBSTITUCIO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No significatiu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>
                          <a:effectLst/>
                        </a:rPr>
                        <a:t>-</a:t>
                      </a:r>
                      <a:endParaRPr lang="ca-ES" sz="1100" kern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ca-ES" sz="1100" kern="1400" dirty="0">
                          <a:effectLst/>
                        </a:rPr>
                        <a:t>Parcial</a:t>
                      </a:r>
                      <a:endParaRPr lang="ca-ES" sz="1100" kern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2661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197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6400" b="1" noProof="0" dirty="0">
                <a:solidFill>
                  <a:srgbClr val="E8A020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ca-ES" sz="64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ca-E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de Machine </a:t>
            </a:r>
            <a:r>
              <a:rPr lang="ca-E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r>
              <a:rPr lang="ca-E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Predictius</a:t>
            </a:r>
            <a:endParaRPr lang="ca-E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 de models ML</a:t>
            </a:r>
            <a:endParaRPr lang="ca-ES" sz="2200" noProof="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680739"/>
              </p:ext>
            </p:extLst>
          </p:nvPr>
        </p:nvGraphicFramePr>
        <p:xfrm>
          <a:off x="457200" y="822960"/>
          <a:ext cx="8229600" cy="22860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test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r>
                        <a:rPr lang="ca-ES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ca-ES" sz="13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300" noProof="0" dirty="0" err="1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Forest-A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300" b="0" noProof="0" dirty="0" err="1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ca-ES" sz="1300" b="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0.862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300" noProof="0" dirty="0" err="1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SVM-RBF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300" noProof="0" dirty="0" err="1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Logit</a:t>
                      </a: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predictiu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300" noProof="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0.645</a:t>
                      </a:r>
                      <a:endParaRPr lang="ca-ES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246120"/>
            <a:ext cx="8229600" cy="1810910"/>
          </a:xfrm>
          <a:prstGeom prst="roundRect">
            <a:avLst>
              <a:gd name="adj" fmla="val 6857"/>
            </a:avLst>
          </a:prstGeom>
          <a:solidFill>
            <a:srgbClr val="1A274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5" name="Text 2"/>
          <p:cNvSpPr/>
          <p:nvPr/>
        </p:nvSpPr>
        <p:spPr>
          <a:xfrm>
            <a:off x="685800" y="33375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ca-ES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Millor model global: </a:t>
            </a:r>
            <a:r>
              <a:rPr lang="ca-ES" sz="1300" b="1" noProof="0" dirty="0" err="1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r>
              <a:rPr lang="ca-ES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però no s’inclou al treball perquè té </a:t>
            </a:r>
            <a:r>
              <a:rPr lang="ca-ES" sz="13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r>
              <a:rPr lang="ca-ES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hauria d’incloure’l?</a:t>
            </a:r>
          </a:p>
          <a:p>
            <a:pPr marL="0" indent="0">
              <a:buNone/>
            </a:pPr>
            <a:endParaRPr lang="ca-ES" sz="1300" noProof="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ca-ES" sz="1300" b="1" noProof="0" dirty="0" err="1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r>
              <a:rPr lang="ca-ES" sz="1300" b="1" noProof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Forest-A</a:t>
            </a:r>
            <a:r>
              <a:rPr lang="ca-ES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millor AUC brut (0.892) </a:t>
            </a:r>
            <a:r>
              <a:rPr lang="ca-ES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és el model seleccionat perquè no té </a:t>
            </a:r>
            <a:r>
              <a:rPr lang="ca-ES" sz="13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overfitting</a:t>
            </a:r>
            <a:r>
              <a:rPr lang="ca-ES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Variables top: IA_SUBST, </a:t>
            </a:r>
            <a:r>
              <a:rPr lang="ca-ES" sz="13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NOTA_num</a:t>
            </a:r>
            <a:r>
              <a:rPr lang="ca-ES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N_ASSIG, IA_ATENC, CURS_1R.</a:t>
            </a:r>
          </a:p>
          <a:p>
            <a:pPr marL="0" indent="0">
              <a:buNone/>
            </a:pPr>
            <a:endParaRPr lang="ca-E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ca-ES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Llindar de classificació amb corba </a:t>
            </a:r>
            <a:r>
              <a:rPr lang="ca-ES" sz="13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r>
              <a:rPr lang="ca-ES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ca-ES" sz="13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ca-ES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maximitzar precisió (controlar FP als que direm que són regulars i no ho són </a:t>
            </a:r>
            <a:r>
              <a:rPr lang="ca-ES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no donem cap solució i no aniran a classe), la pregunta és: com de car seria tenir FN: oferir una solució al que anirien a classe igualment?</a:t>
            </a:r>
            <a:endParaRPr lang="ca-ES" sz="1300" noProof="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ca-ES" sz="1300" noProof="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6400" b="1" noProof="0" dirty="0">
                <a:solidFill>
                  <a:srgbClr val="E8A020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ca-ES" sz="64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Anàlisi textual</a:t>
            </a:r>
            <a:endParaRPr lang="ca-ES" sz="26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3FEB8-67E1-835F-76BD-2FE97CC2B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56113F-080C-116E-58A6-C49B6A9C25C7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Anàlisi textual i de sentiments</a:t>
            </a:r>
            <a:endParaRPr lang="ca-ES" sz="22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C7E7BE-5BD3-613A-5165-C696493CB47E}"/>
              </a:ext>
            </a:extLst>
          </p:cNvPr>
          <p:cNvSpPr/>
          <p:nvPr/>
        </p:nvSpPr>
        <p:spPr>
          <a:xfrm>
            <a:off x="256032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ca-ES" sz="10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0AB9277-DC23-B849-68AA-A64647406F0D}"/>
              </a:ext>
            </a:extLst>
          </p:cNvPr>
          <p:cNvSpPr/>
          <p:nvPr/>
        </p:nvSpPr>
        <p:spPr>
          <a:xfrm>
            <a:off x="4663440" y="7772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Efectes marginals</a:t>
            </a:r>
            <a:endParaRPr lang="ca-ES" sz="100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215CE1F-2852-C783-DC79-450615A12E81}"/>
              </a:ext>
            </a:extLst>
          </p:cNvPr>
          <p:cNvSpPr/>
          <p:nvPr/>
        </p:nvSpPr>
        <p:spPr>
          <a:xfrm>
            <a:off x="457200" y="777240"/>
            <a:ext cx="8229600" cy="4050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80F37F8-3584-AB92-4189-30A8FC4440A8}"/>
              </a:ext>
            </a:extLst>
          </p:cNvPr>
          <p:cNvSpPr/>
          <p:nvPr/>
        </p:nvSpPr>
        <p:spPr>
          <a:xfrm>
            <a:off x="685800" y="937981"/>
            <a:ext cx="7772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 experiències positives, les paraules dominants són professor i explicava: res rellevant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 experiències negatives, predominen </a:t>
            </a:r>
            <a:r>
              <a:rPr lang="ca-ES" sz="1400" i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ca-ES" sz="1400" i="1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ca-ES" sz="1400" i="1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aburridas</a:t>
            </a: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 passivitat i la manca de pràctica concentren el discurs crític.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 propostes de motivació, el tema més freqüent (50 de 112 respostes) és l'escepticisme i desvinculació. De manera que la meitat dels estudiants no proposa cap millora concreta, simplement no veu el valor d'anar a classe.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ca-ES" sz="14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L'anàlisi de sentiment (lèxic NRC) no detecta diferències significatives entre regulars i irregulars (p &gt; 0.46). Els dos grups escriuen amb càrrega emocional similar, cosa que reforça que l'absentisme és racional, no emocional.</a:t>
            </a:r>
          </a:p>
          <a:p>
            <a:pPr>
              <a:spcAft>
                <a:spcPts val="400"/>
              </a:spcAft>
              <a:buSzPct val="100000"/>
            </a:pPr>
            <a:endParaRPr lang="ca-ES" sz="1400" noProof="0" dirty="0">
              <a:solidFill>
                <a:srgbClr val="1A27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endParaRPr lang="ca-ES" sz="1400" noProof="0" dirty="0"/>
          </a:p>
        </p:txBody>
      </p:sp>
    </p:spTree>
    <p:extLst>
      <p:ext uri="{BB962C8B-B14F-4D97-AF65-F5344CB8AC3E}">
        <p14:creationId xmlns:p14="http://schemas.microsoft.com/office/powerpoint/2010/main" val="2732393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6400" b="1" noProof="0" dirty="0">
                <a:solidFill>
                  <a:srgbClr val="E8A020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ca-ES" sz="64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2600" b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</a:t>
            </a:r>
            <a:r>
              <a:rPr lang="ca-ES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Clustering i Profiling</a:t>
            </a:r>
            <a:endParaRPr lang="ca-ES" sz="26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200" b="1" noProof="0" dirty="0" err="1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</a:t>
            </a:r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Clustering — Dos perfils d'estudiant</a:t>
            </a:r>
            <a:endParaRPr lang="ca-ES" sz="22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77640" cy="40233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77640" cy="457200"/>
          </a:xfrm>
          <a:prstGeom prst="roundRect">
            <a:avLst>
              <a:gd name="adj" fmla="val 24000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8321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ca-ES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— Assistència moderada-alta</a:t>
            </a:r>
            <a:endParaRPr lang="ca-ES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703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167 (48.8%)</a:t>
            </a:r>
            <a:endParaRPr lang="ca-ES" sz="1250" noProof="0" dirty="0"/>
          </a:p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P(ASSIST) mitjana = 74.4% · mediana = 85.0%</a:t>
            </a:r>
            <a:endParaRPr lang="ca-ES" sz="1250" noProof="0" dirty="0"/>
          </a:p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 d'IA baix (IA_SUBST ~ 1.7)</a:t>
            </a:r>
            <a:endParaRPr lang="ca-ES" sz="1250" noProof="0" dirty="0"/>
          </a:p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mitjana lleugerament superior</a:t>
            </a:r>
            <a:endParaRPr lang="ca-ES" sz="1250" noProof="0" dirty="0"/>
          </a:p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Desplaçament llarg (52 min)</a:t>
            </a:r>
            <a:endParaRPr lang="ca-ES" sz="1250" noProof="0" dirty="0"/>
          </a:p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desmotivació pedagògica</a:t>
            </a:r>
            <a:endParaRPr lang="ca-ES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4800600" y="822960"/>
            <a:ext cx="3977640" cy="40233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3977640" cy="457200"/>
          </a:xfrm>
          <a:prstGeom prst="roundRect">
            <a:avLst>
              <a:gd name="adj" fmla="val 24000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9" name="Text 7"/>
          <p:cNvSpPr/>
          <p:nvPr/>
        </p:nvSpPr>
        <p:spPr>
          <a:xfrm>
            <a:off x="4892040" y="8321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ca-ES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— Assistència irregular</a:t>
            </a:r>
            <a:endParaRPr lang="ca-ES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703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175 (51.2%)</a:t>
            </a:r>
            <a:endParaRPr lang="ca-ES" sz="1250" noProof="0" dirty="0"/>
          </a:p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P(ASSIST) mitjana = 66.5% · mediana = 70.0%</a:t>
            </a:r>
            <a:endParaRPr lang="ca-ES" sz="1250" noProof="0" dirty="0"/>
          </a:p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 d'IA elevat (IA_SUBST ~ 4.0)</a:t>
            </a:r>
            <a:endParaRPr lang="ca-ES" sz="1250" noProof="0" dirty="0"/>
          </a:p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acadèmica inferior</a:t>
            </a:r>
            <a:endParaRPr lang="ca-ES" sz="1250" noProof="0" dirty="0"/>
          </a:p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Desplaçament menor (46 min)</a:t>
            </a:r>
            <a:endParaRPr lang="ca-ES" sz="1250" noProof="0" dirty="0"/>
          </a:p>
          <a:p>
            <a:pPr marL="342900" indent="-342900">
              <a:buSzPct val="100000"/>
              <a:buChar char="•"/>
            </a:pPr>
            <a:r>
              <a:rPr lang="ca-ES" sz="125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Més desmotivació pedagògica i menys autogestió</a:t>
            </a:r>
            <a:endParaRPr lang="ca-ES" sz="1250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BA52911-3F79-C9CF-22FF-0ACE588DEC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7" t="8380" r="2396" b="5721"/>
          <a:stretch>
            <a:fillRect/>
          </a:stretch>
        </p:blipFill>
        <p:spPr bwMode="auto">
          <a:xfrm>
            <a:off x="3253643" y="2834640"/>
            <a:ext cx="2636713" cy="212844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principals</a:t>
            </a:r>
            <a:endParaRPr lang="ca-ES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84048" cy="384048"/>
          </a:xfrm>
          <a:prstGeom prst="ellipse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4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ca-ES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868680" y="74980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L'ús de la IA com a substitut de la classe és el factor més determinant de l'absentisme — efecte consistent al </a:t>
            </a:r>
            <a:r>
              <a:rPr lang="ca-ES" sz="125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</a:t>
            </a:r>
            <a:r>
              <a:rPr lang="ca-ES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SEM i ML.</a:t>
            </a:r>
            <a:endParaRPr lang="ca-ES" sz="125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384048" cy="384048"/>
          </a:xfrm>
          <a:prstGeom prst="ellipse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4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ca-ES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desmotivació pedagògica té un efecte directe i mediador sobre l'assistència (via percepció de l'avaluació contínua).</a:t>
            </a:r>
            <a:endParaRPr lang="ca-ES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384048" cy="384048"/>
          </a:xfrm>
          <a:prstGeom prst="ellipse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4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ca-ES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868680" y="2478024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detecten dos perfils clars: estudiant «no-IA, regular» vs. «alta-IA, irregular» — diferència estadísticament molt significativa (p &lt; 0.0001).</a:t>
            </a:r>
            <a:endParaRPr lang="ca-ES" sz="125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3328416"/>
            <a:ext cx="384048" cy="384048"/>
          </a:xfrm>
          <a:prstGeom prst="ellipse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Text 11"/>
          <p:cNvSpPr/>
          <p:nvPr/>
        </p:nvSpPr>
        <p:spPr>
          <a:xfrm>
            <a:off x="36576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4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ca-ES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4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ca-ES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868680" y="3204973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L'absentisme no s'explica per factors logístics: ni el desplaçament, ni la càrrega d'assignatures, ni el gènere. És un fenomen de percepció del valor de la classe.</a:t>
            </a:r>
            <a:endParaRPr lang="ca-ES" sz="125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6400" b="1" noProof="0" dirty="0">
                <a:solidFill>
                  <a:srgbClr val="E8A020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ca-ES" sz="64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a-ES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Pròxims passos: </a:t>
            </a:r>
            <a:r>
              <a:rPr lang="ca-ES" sz="2600" b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Shiny</a:t>
            </a:r>
            <a:r>
              <a:rPr lang="ca-ES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ca-ES" sz="2600" b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ca-ES" sz="26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a-ES" sz="2200" b="1" noProof="0" dirty="0" err="1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Shiny</a:t>
            </a:r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ca-ES" sz="2200" b="1" noProof="0" dirty="0" err="1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r>
              <a:rPr lang="ca-ES" sz="2200" b="1" noProof="0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Visualitzador interactiu de resultats</a:t>
            </a:r>
            <a:endParaRPr lang="ca-ES" sz="22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 individual</a:t>
            </a:r>
            <a:endParaRPr lang="ca-ES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ca-ES" sz="12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Introduir les característiques d'un estudiant (amb variables observables abans de </a:t>
            </a:r>
            <a:r>
              <a:rPr lang="ca-ES" sz="1200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</a:t>
            </a:r>
            <a:r>
              <a:rPr lang="ca-ES" sz="12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nçar</a:t>
            </a:r>
            <a:r>
              <a:rPr lang="ca-E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curs) </a:t>
            </a:r>
            <a:r>
              <a:rPr lang="ca-ES" sz="12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obtenir la probabilitat d'absentisme + </a:t>
            </a:r>
            <a:r>
              <a:rPr lang="ca-ES" sz="1200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ca-ES" sz="12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assignat.</a:t>
            </a:r>
            <a:endParaRPr lang="ca-ES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2B4C8C"/>
          </a:solidFill>
          <a:ln/>
        </p:spPr>
        <p:txBody>
          <a:bodyPr/>
          <a:lstStyle/>
          <a:p>
            <a:endParaRPr lang="ca-ES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Importància de variables</a:t>
            </a:r>
            <a:endParaRPr lang="ca-ES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ca-ES" sz="12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és dir les característiques (</a:t>
            </a:r>
            <a:r>
              <a:rPr lang="ca-E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observables per l’individu nou) </a:t>
            </a:r>
            <a:r>
              <a:rPr lang="ca-ES" sz="12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dels veïns més propers de cada clúster per veure quins factors faran que no vagi a classe.</a:t>
            </a:r>
            <a:endParaRPr lang="ca-ES" sz="1200" noProof="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761461AB-0B99-2F09-2300-C0914B10C921}"/>
              </a:ext>
            </a:extLst>
          </p:cNvPr>
          <p:cNvSpPr/>
          <p:nvPr/>
        </p:nvSpPr>
        <p:spPr>
          <a:xfrm>
            <a:off x="4663440" y="932688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25DCF551-086A-CC7E-022C-A3EF217D2188}"/>
              </a:ext>
            </a:extLst>
          </p:cNvPr>
          <p:cNvSpPr/>
          <p:nvPr/>
        </p:nvSpPr>
        <p:spPr>
          <a:xfrm>
            <a:off x="4663440" y="932688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2B4C8C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a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Implementació</a:t>
            </a:r>
            <a:endParaRPr kumimoji="0" lang="ca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ca-ES" noProof="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CEA2921-F5D2-2455-18A8-87957C9F9546}"/>
              </a:ext>
            </a:extLst>
          </p:cNvPr>
          <p:cNvSpPr/>
          <p:nvPr/>
        </p:nvSpPr>
        <p:spPr>
          <a:xfrm>
            <a:off x="4742290" y="1362456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ca-ES" sz="12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Aquesta és la gran pregunta: qui utilitzaria aquest recurs? Personal administratiu, docents, personal més tècnic...?</a:t>
            </a:r>
            <a:endParaRPr lang="ca-ES" sz="1200" noProof="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7987877D-861F-00BC-1C3A-2530E04CA6B2}"/>
              </a:ext>
            </a:extLst>
          </p:cNvPr>
          <p:cNvSpPr/>
          <p:nvPr/>
        </p:nvSpPr>
        <p:spPr>
          <a:xfrm>
            <a:off x="4754882" y="2938802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a-ES" noProof="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AD9A6456-8AA8-6D48-630D-2B2C3B3B8763}"/>
              </a:ext>
            </a:extLst>
          </p:cNvPr>
          <p:cNvSpPr/>
          <p:nvPr/>
        </p:nvSpPr>
        <p:spPr>
          <a:xfrm>
            <a:off x="4754882" y="2938802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2B4C8C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a-ES" sz="1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Solucions personalitzades</a:t>
            </a:r>
            <a:endParaRPr kumimoji="0" lang="ca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ca-ES" noProof="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6EC0CA0F-B908-4A70-63B6-94577549CAE6}"/>
              </a:ext>
            </a:extLst>
          </p:cNvPr>
          <p:cNvSpPr/>
          <p:nvPr/>
        </p:nvSpPr>
        <p:spPr>
          <a:xfrm>
            <a:off x="4833732" y="336857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ca-ES" sz="1200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Quines solucions es poden oferir?</a:t>
            </a:r>
            <a:endParaRPr lang="ca-ES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1694</Words>
  <Application>Microsoft Office PowerPoint</Application>
  <PresentationFormat>Presentación en pantalla (16:9)</PresentationFormat>
  <Paragraphs>347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TFG – Absentisme Universitari</dc:title>
  <dc:subject>PptxGenJS Presentation</dc:subject>
  <dc:creator>PptxGenJS</dc:creator>
  <cp:lastModifiedBy>Edurne Alvarez</cp:lastModifiedBy>
  <cp:revision>2</cp:revision>
  <dcterms:created xsi:type="dcterms:W3CDTF">2026-06-14T15:24:36Z</dcterms:created>
  <dcterms:modified xsi:type="dcterms:W3CDTF">2026-06-14T17:15:19Z</dcterms:modified>
</cp:coreProperties>
</file>